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50740"/>
            <a:ext cx="3256061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836515"/>
            <a:ext cx="1158144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oppins"/>
              </a:rPr>
              <a:t>Bank Loan Report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649860"/>
            <a:ext cx="11029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 Medium"/>
              </a:rPr>
              <a:t>Comprehensive Portfolio Performance, Risk Metrics &amp; Key Financial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6450" y="4345185"/>
            <a:ext cx="9534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 SQL &amp; Power BI  Portfolio Risk Analytics  Financial Services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364235"/>
            <a:ext cx="1143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450" y="4364235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075" y="436423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9069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Executive Summary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352550"/>
            <a:ext cx="559069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762125"/>
            <a:ext cx="53244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To evaluate the bank's lending activities, monitor overall portfolio health, and uncover actionable insights regarding repayment behaviors, risk exposure, and loan profitability.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600325"/>
            <a:ext cx="559069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Analytical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009900"/>
            <a:ext cx="53244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Leveraged advanced SQL queries to process structured loan datasets and built interactive Power BI dashboards to perform Month-to-Date (MTD) and Month-over-Month (MoM) trend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81487"/>
            <a:ext cx="1102995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90787"/>
            <a:ext cx="2614612" cy="1457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137" y="2490787"/>
            <a:ext cx="2614612" cy="1457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2490787"/>
            <a:ext cx="2614612" cy="1457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6362" y="2490787"/>
            <a:ext cx="2614612" cy="1457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4481512"/>
            <a:ext cx="10553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Inter"/>
              </a:rPr>
              <a:t>Key Takeaway: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Capital recovery remains strong with $473.1M received against $435.8M funded, indicating positive net cash inflows across active loan accounts.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9281" y="2500312"/>
            <a:ext cx="38100" cy="14382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9150" y="2728912"/>
            <a:ext cx="21383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957512"/>
            <a:ext cx="2138362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38.6K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557587"/>
            <a:ext cx="195738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Inter Medium"/>
              </a:rPr>
              <a:t>+6.9% MoM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4393" y="2500312"/>
            <a:ext cx="38100" cy="143827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4262" y="2728912"/>
            <a:ext cx="21383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FUNDED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4262" y="2957512"/>
            <a:ext cx="2138362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$435.8M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5237" y="3557587"/>
            <a:ext cx="195738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Inter Medium"/>
              </a:rPr>
              <a:t>+13.0% MoM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506" y="2500312"/>
            <a:ext cx="38100" cy="1438275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9375" y="2728912"/>
            <a:ext cx="21383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TOTAL AMOUNT RECEIVED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2957512"/>
            <a:ext cx="2138362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$473.1M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350" y="3557587"/>
            <a:ext cx="195738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34D399"/>
                </a:solidFill>
                <a:latin typeface="Inter Medium"/>
              </a:rPr>
              <a:t>+15.8% MoM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4618" y="2500312"/>
            <a:ext cx="38100" cy="1438275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4487" y="2728912"/>
            <a:ext cx="21383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AVG INTEREST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4487" y="2957512"/>
            <a:ext cx="2138362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12.0%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7362" y="3557587"/>
            <a:ext cx="199548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Inter Medium"/>
              </a:rPr>
              <a:t>Stable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3571875"/>
            <a:ext cx="14287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4262" y="3571875"/>
            <a:ext cx="142875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3571875"/>
            <a:ext cx="142875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4487" y="3571875"/>
            <a:ext cx="104775" cy="1238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Primary Portfolio KPIs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86012"/>
            <a:ext cx="1102995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787" y="3314700"/>
            <a:ext cx="3019425" cy="10001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00787" y="341471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0787" y="406241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7487" y="3314700"/>
            <a:ext cx="2419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Good Loans (Fully Paid / Current)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87" y="3505200"/>
            <a:ext cx="24193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33.2K Applications | $370.2M Funded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7487" y="3962400"/>
            <a:ext cx="26574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Inter"/>
              </a:rPr>
              <a:t>Bad Loans (Charged Off / Defaulted)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7487" y="4152900"/>
            <a:ext cx="2752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5.3K Applications | $65.5M Funded (13.8%)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Good Loan vs. Bad Loan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57300"/>
            <a:ext cx="11029950" cy="5114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6500" y="5555605"/>
            <a:ext cx="723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Consistent growth observed throughout the year, peaking in Q4 due to high seasonal credit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Monthly Issue Volume Trend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57300"/>
            <a:ext cx="11029950" cy="5114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90662" y="4733925"/>
            <a:ext cx="9210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Borrowers with 10+ years of employment account for the largest proportion of total applications and exhibit lower default 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Loan Distribution by Employment Length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81287"/>
            <a:ext cx="3524250" cy="2266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81287"/>
            <a:ext cx="3524250" cy="2266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681287"/>
            <a:ext cx="3524250" cy="2266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957512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605212"/>
            <a:ext cx="31203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oppins SemiBold"/>
              </a:rPr>
              <a:t>Debt Consolidation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862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Represents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52%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of total volume ($226M funded). Main driver for borrower refinancing.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957512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0100" y="3605212"/>
            <a:ext cx="31203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oppins SemiBold"/>
              </a:rPr>
              <a:t>Credit Card Payoff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9862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Accounts for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21%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of total loans. Exhibits strong repayment consistency.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957512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2950" y="3605212"/>
            <a:ext cx="31203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oppins SemiBold"/>
              </a:rPr>
              <a:t>Home /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39862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Comprises </a:t>
            </a:r>
            <a:r>
              <a:rPr sz="1200" b="1" i="0" u="none">
                <a:solidFill>
                  <a:srgbClr val="94A3B8"/>
                </a:solidFill>
                <a:latin typeface="Inter"/>
              </a:rPr>
              <a:t>15%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of loans. Requires closer monitoring due to variable DTI ratios.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3081337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9637" y="3081337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6775" y="3081337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Loan Applications by Purpose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05012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50" y="2843212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Top High-Volume States: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California, Texas, and New York represent over 38% of total funded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490912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Risk Variance: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Southern regions show higher average Debt-to-Income (DTI) ratios (14.2% vs 12.8% national average).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4138612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Strategic Action: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Adjust regional underwriting thresholds to mitigate localized credit default risk.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14537"/>
            <a:ext cx="530542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67025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514725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162425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Regional Lending Disparities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757487"/>
            <a:ext cx="11029950" cy="211455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757487"/>
          <a:ext cx="11020422" cy="2114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2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Homeownership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36-Month 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60-Month Term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Avg Interest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Poppins SemiBold"/>
                        </a:rPr>
                        <a:t>Default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RENT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14,200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4,200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11.8%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7171"/>
                          </a:solidFill>
                          <a:latin typeface="Inter"/>
                        </a:rPr>
                        <a:t>14.5%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MORTGAGE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12,800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5,400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12.2%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"/>
                        </a:rPr>
                        <a:t>12.1%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2,100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700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11.5%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4D399"/>
                          </a:solidFill>
                          <a:latin typeface="Inter"/>
                        </a:rPr>
                        <a:t>11.8%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3800475"/>
            <a:ext cx="22941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79973" y="3800475"/>
            <a:ext cx="21932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73253" y="3800475"/>
            <a:ext cx="22066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79927" y="3800475"/>
            <a:ext cx="24220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701956" y="3800475"/>
            <a:ext cx="19042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787" y="4329112"/>
            <a:ext cx="229418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79973" y="4329112"/>
            <a:ext cx="219328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73253" y="4329112"/>
            <a:ext cx="22066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79927" y="4329112"/>
            <a:ext cx="242202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01956" y="4329112"/>
            <a:ext cx="19042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Loan Term &amp; Homeownership Breakdown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38375" y="2843212"/>
            <a:ext cx="8143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High DTI Sensitivity: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Borrowers with Debt-to-Income ratios above 18% show a 2.4x higher likelihood of defaulting.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8375" y="3490912"/>
            <a:ext cx="8143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Interest Rate Impact: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Interest rates exceeding 15% directly correlate with elevated charge-off percentages in 60-month loan terms.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8375" y="4138612"/>
            <a:ext cx="8143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Mitigation Strategy: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Implement stricter capping on maximum high-risk DTI applicants during initial credit screening.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867025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3514725"/>
            <a:ext cx="1524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0" y="4162425"/>
            <a:ext cx="19050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Key Credit Risk Drivers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146" y="3305175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916" y="3305175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685" y="3305175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9454" y="3305175"/>
            <a:ext cx="476250" cy="47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995737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4644" y="3971925"/>
            <a:ext cx="159910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Policy Refinement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305300"/>
            <a:ext cx="24264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Tighten underwriting caps on borrowers with &gt;18% DTI ratios.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8834" y="3971925"/>
            <a:ext cx="136626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Product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794" y="4305300"/>
            <a:ext cx="24264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Re-evaluate interest rate pricing models for 60-month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3459" y="3971925"/>
            <a:ext cx="161270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Regional Capping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563" y="4305300"/>
            <a:ext cx="24264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Adjust regional exposure ceilings based on local default trends.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54805" y="3971925"/>
            <a:ext cx="188554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Automated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4332" y="4305300"/>
            <a:ext cx="24264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Deploy real-time SQL &amp; Power BI early warning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Portfolio Optimization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496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 KUMAR SINGH</dc:creator>
  <cp:keywords/>
  <dc:description>generated using python-pptx</dc:description>
  <cp:lastModifiedBy>ROHIT KUMAR SINGH</cp:lastModifiedBy>
  <cp:revision>2</cp:revision>
  <dcterms:created xsi:type="dcterms:W3CDTF">2013-01-27T09:14:16Z</dcterms:created>
  <dcterms:modified xsi:type="dcterms:W3CDTF">2026-09-10T17:29:30Z</dcterms:modified>
  <cp:category/>
</cp:coreProperties>
</file>